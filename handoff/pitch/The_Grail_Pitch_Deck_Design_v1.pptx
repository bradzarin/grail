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47483" cy="6400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6400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6400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6400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_crop_IMG_74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02920"/>
            <a:ext cx="1417320" cy="5440680"/>
          </a:xfrm>
          <a:prstGeom prst="rect">
            <a:avLst/>
          </a:prstGeom>
        </p:spPr>
      </p:pic>
      <p:pic>
        <p:nvPicPr>
          <p:cNvPr id="9" name="Picture 8" descr="_crop_IMG_7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02920"/>
            <a:ext cx="1417320" cy="5440680"/>
          </a:xfrm>
          <a:prstGeom prst="rect">
            <a:avLst/>
          </a:prstGeom>
        </p:spPr>
      </p:pic>
      <p:pic>
        <p:nvPicPr>
          <p:cNvPr id="10" name="Picture 9" descr="_crop_IMG_74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502920"/>
            <a:ext cx="1417320" cy="5440680"/>
          </a:xfrm>
          <a:prstGeom prst="rect">
            <a:avLst/>
          </a:prstGeom>
        </p:spPr>
      </p:pic>
      <p:pic>
        <p:nvPicPr>
          <p:cNvPr id="11" name="Picture 10" descr="_crop_IMG_74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502920"/>
            <a:ext cx="1417320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12280" y="320040"/>
            <a:ext cx="5166360" cy="5943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shot 2026-09-01 at 1.06.49 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682713"/>
            <a:ext cx="1965960" cy="8748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1965960"/>
            <a:ext cx="6217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21215"/>
                </a:solidFill>
                <a:latin typeface="Aptos"/>
              </a:rPr>
              <a:t>THE HOBBY,
REBUILT.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74720"/>
            <a:ext cx="5394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C6E78"/>
                </a:solidFill>
                <a:latin typeface="Aptos"/>
              </a:rPr>
              <a:t>A collector-first operating system for discovery, valuation, collection intelligence and commerce.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166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PITCH DECK DESIGN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5955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FIND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264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Confidential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eBay digitized the classified ad.
The Grail digitizes the collection.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Every card becomes a living position: owned, valued, watched, compared, traded and understood.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834640"/>
            <a:ext cx="1965960" cy="132588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718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101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685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Physical card → digital asset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1965960" cy="132588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9718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3101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685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Real sales → market signal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2834640"/>
            <a:ext cx="1965960" cy="132588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4" y="29718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3101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3685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Portfolio → 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2834640"/>
            <a:ext cx="1965960" cy="132588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9718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3101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685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Want graph → opportunity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6064" y="2834640"/>
            <a:ext cx="1965960" cy="132588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9718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31012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TRADE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685032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Collection → marketplace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215"/>
                </a:solidFill>
                <a:latin typeface="Aptos"/>
              </a:rPr>
              <a:t>YOUR COLLECTION BECOMES YOUR MARKETPLACE.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15000"/>
            <a:ext cx="777240" cy="6400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08176" y="5715000"/>
            <a:ext cx="777240" cy="6400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76272" y="5715000"/>
            <a:ext cx="777240" cy="6400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44368" y="5715000"/>
            <a:ext cx="7772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12464" y="5715000"/>
            <a:ext cx="777240" cy="6400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A massive market still runs on screenshots, stickers and search tabs.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Collectors are making financial decisions with fragmented data, inconsistent pricing and limited transparency.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7432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PRICE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090672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6E78"/>
                </a:solidFill>
                <a:latin typeface="Aptos"/>
              </a:rPr>
              <a:t>Recent sales are scattered across marketplaces and auction houses.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19" y="3794760"/>
            <a:ext cx="443484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432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7432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COLLECTION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090672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6E78"/>
                </a:solidFill>
                <a:latin typeface="Aptos"/>
              </a:rPr>
              <a:t>Most collectors cannot see their portfolio value or exposure in one place.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3794760"/>
            <a:ext cx="443484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2519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TRADING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599432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6E78"/>
                </a:solidFill>
                <a:latin typeface="Aptos"/>
              </a:rPr>
              <a:t>Card-show trading is high-friction and matching wants to inventory is manual.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19" y="5303520"/>
            <a:ext cx="443484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2519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2519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99432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C6E78"/>
                </a:solidFill>
                <a:latin typeface="Aptos"/>
              </a:rPr>
              <a:t>Condition, comps, provenance and counterparties are difficult to assess quickly.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5303520"/>
            <a:ext cx="443484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One home for the Hobby.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The front end should feel like a premium card product. The data layer should feel like a market terminal.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423160"/>
            <a:ext cx="70408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(20260901-1752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268" y="2560320"/>
            <a:ext cx="5047638" cy="3474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2468880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COLLECTION-FIRST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2491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The portfolio is the home screen.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310128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CARD-CENTRIC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5661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Every card has a persistent market identity.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151376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DATA WITH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07408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Range, trend, liquidity and confidence — not a fake precise price.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92624"/>
            <a:ext cx="3337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COMMERCE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248656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Buy, offer and trade layer onto the collection 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MY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A sports-card portfolio, not a spreadsheet.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Each card is a position. Multiples behave like multiple shares. The portfolio can be viewed by player, sport, era, set, grade or Grail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1215"/>
                </a:solidFill>
                <a:latin typeface="Aptos"/>
              </a:rPr>
              <a:t>427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443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1215"/>
                </a:solidFill>
                <a:latin typeface="Aptos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9443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GRAILS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1215"/>
                </a:solidFill>
                <a:latin typeface="Aptos"/>
              </a:rPr>
              <a:t>$62,450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9443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EST.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514600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1215"/>
                </a:solidFill>
                <a:latin typeface="Aptos"/>
              </a:rPr>
              <a:t>+5.4%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9443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30D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56432"/>
            <a:ext cx="960120" cy="169164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G_74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683214"/>
            <a:ext cx="886968" cy="123807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856232" y="3456432"/>
            <a:ext cx="960120" cy="169164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G_741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3971654"/>
            <a:ext cx="886968" cy="66119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026664" y="3456432"/>
            <a:ext cx="960120" cy="169164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G_741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656831"/>
            <a:ext cx="886968" cy="129084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197096" y="3456432"/>
            <a:ext cx="960120" cy="169164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G_741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3702466"/>
            <a:ext cx="886968" cy="119957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577840" y="2468880"/>
            <a:ext cx="59436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3872" y="270662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21215"/>
                </a:solidFill>
                <a:latin typeface="Aptos"/>
              </a:rPr>
              <a:t>COLLECTION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1215"/>
                </a:solidFill>
                <a:latin typeface="Aptos"/>
              </a:rPr>
              <a:t>$62,450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09981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A66A"/>
                </a:solidFill>
                <a:latin typeface="Aptos"/>
              </a:rPr>
              <a:t>▲ $3,210  ·  5.4%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5897880" y="4754880"/>
            <a:ext cx="594360" cy="13716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92240" y="4754880"/>
            <a:ext cx="548640" cy="73152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40880" y="4526280"/>
            <a:ext cx="548640" cy="301752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89520" y="4526280"/>
            <a:ext cx="594359" cy="9144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83879" y="4279392"/>
            <a:ext cx="548641" cy="338328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32520" y="4279392"/>
            <a:ext cx="548640" cy="73152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281160" y="3977639"/>
            <a:ext cx="594360" cy="374905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75520" y="3977639"/>
            <a:ext cx="594360" cy="137161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469880" y="3703320"/>
            <a:ext cx="640080" cy="41148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861304" y="4855464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04304" y="4791456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47304" y="4581144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44584" y="4315968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33304" y="4078224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MARKET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Every card gets a ticker.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Completed transactions create the time series. Grail adds liquidity, volatility, confidence, grade spreads and a plain-English market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395728"/>
            <a:ext cx="10972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0048"/>
            <a:ext cx="4937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C6E78"/>
                </a:solidFill>
                <a:latin typeface="Aptos"/>
              </a:rPr>
              <a:t>MICHAEL JORDAN · 1993-94 ULTRA SCORING KINGS #5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PSA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7355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215"/>
                </a:solidFill>
                <a:latin typeface="Aptos"/>
              </a:rPr>
              <a:t>$6,250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40156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A66A"/>
                </a:solidFill>
                <a:latin typeface="Aptos"/>
              </a:rPr>
              <a:t>▲ 58.2% · 3M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43400" y="4892040"/>
            <a:ext cx="457200" cy="182880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00600" y="4892040"/>
            <a:ext cx="457200" cy="91440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257800" y="4645152"/>
            <a:ext cx="411480" cy="338328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4645152"/>
            <a:ext cx="502920" cy="91440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72200" y="4343400"/>
            <a:ext cx="457200" cy="393192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4343400"/>
            <a:ext cx="411480" cy="164592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40880" y="4069080"/>
            <a:ext cx="502920" cy="438912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543800" y="3749039"/>
            <a:ext cx="457200" cy="320041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1000" y="3749039"/>
            <a:ext cx="457200" cy="182881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458200" y="3657600"/>
            <a:ext cx="502920" cy="274320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61120" y="3657600"/>
            <a:ext cx="502920" cy="164591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464040" y="3493008"/>
            <a:ext cx="502920" cy="329183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66960" y="3493008"/>
            <a:ext cx="502920" cy="164592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469880" y="3401568"/>
            <a:ext cx="548640" cy="256032"/>
          </a:xfrm>
          <a:prstGeom prst="line">
            <a:avLst/>
          </a:prstGeom>
          <a:ln w="27940">
            <a:solidFill>
              <a:srgbClr val="4E9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311396" y="5042916"/>
            <a:ext cx="64008" cy="64008"/>
          </a:xfrm>
          <a:prstGeom prst="ellipse">
            <a:avLst/>
          </a:prstGeom>
          <a:solidFill>
            <a:srgbClr val="4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37276" y="4613148"/>
            <a:ext cx="64008" cy="64008"/>
          </a:xfrm>
          <a:prstGeom prst="ellipse">
            <a:avLst/>
          </a:prstGeom>
          <a:solidFill>
            <a:srgbClr val="4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08876" y="4475988"/>
            <a:ext cx="64008" cy="64008"/>
          </a:xfrm>
          <a:prstGeom prst="ellipse">
            <a:avLst/>
          </a:prstGeom>
          <a:solidFill>
            <a:srgbClr val="4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26196" y="3899915"/>
            <a:ext cx="64008" cy="64008"/>
          </a:xfrm>
          <a:prstGeom prst="ellipse">
            <a:avLst/>
          </a:prstGeom>
          <a:solidFill>
            <a:srgbClr val="4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34956" y="3461003"/>
            <a:ext cx="64008" cy="64008"/>
          </a:xfrm>
          <a:prstGeom prst="ellipse">
            <a:avLst/>
          </a:prstGeom>
          <a:solidFill>
            <a:srgbClr val="4E9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33095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$5,883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6327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AVG SALE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39" y="533095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39" y="56327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33095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$6,899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56327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533095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$3,950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56327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19" y="533095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19" y="5632704"/>
            <a:ext cx="1645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LIQUIDITY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GRAIL 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Not every Grail is expensive.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The G identifies cards that matter — through value, scarcity, velocity, cultural importance or iconic status within an era/set.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468880"/>
            <a:ext cx="2971800" cy="2971800"/>
          </a:xfrm>
          <a:prstGeom prst="ellipse">
            <a:avLst/>
          </a:prstGeom>
          <a:solidFill>
            <a:srgbClr val="F6F6F8"/>
          </a:solidFill>
          <a:ln w="25400">
            <a:solidFill>
              <a:srgbClr val="D2A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761488"/>
            <a:ext cx="1965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7C3AED"/>
                </a:solidFill>
                <a:latin typeface="Aptos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690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21215"/>
                </a:solidFill>
                <a:latin typeface="Aptos"/>
              </a:rPr>
              <a:t>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1772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D2A546"/>
                </a:solidFill>
                <a:latin typeface="Aptos"/>
              </a:rPr>
              <a:t>ICONIC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8716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4871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21215"/>
                </a:solidFill>
                <a:latin typeface="Aptos"/>
              </a:rPr>
              <a:t>&gt;$1K or exceptional value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880360"/>
            <a:ext cx="658368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145536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145536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21215"/>
                </a:solidFill>
                <a:latin typeface="Aptos"/>
              </a:rPr>
              <a:t>High transaction velocity / wants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538728"/>
            <a:ext cx="658368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03904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SCARCITY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80390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21215"/>
                </a:solidFill>
                <a:latin typeface="Aptos"/>
              </a:rPr>
              <a:t>Print run, population, availability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197096"/>
            <a:ext cx="658368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462272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SIGNIFICANCE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46227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21215"/>
                </a:solidFill>
                <a:latin typeface="Aptos"/>
              </a:rPr>
              <a:t>Iconic card, player, set or 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855464"/>
            <a:ext cx="658368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120640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MOMENTUM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512064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21215"/>
                </a:solidFill>
                <a:latin typeface="Aptos"/>
              </a:rPr>
              <a:t>Market acceleration with confirmation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5513831"/>
            <a:ext cx="6583680" cy="9144"/>
          </a:xfrm>
          <a:prstGeom prst="rect">
            <a:avLst/>
          </a:prstGeom>
          <a:solidFill>
            <a:srgbClr val="E5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DESIGNED FOR THE WHOLE HOBBY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One ecosystem. Very different collectors.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The interface adapts to sophistication without splitting the market into separate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87168"/>
            <a:ext cx="5074920" cy="1261872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65176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1215"/>
                </a:solidFill>
                <a:latin typeface="Aptos"/>
              </a:rPr>
              <a:t>THE GRAIL HUNTER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3522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High-value collector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7" y="2670048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Authentication · provenance · liquidity · discreet trading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487168"/>
            <a:ext cx="5074920" cy="1261872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65176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1215"/>
                </a:solidFill>
                <a:latin typeface="Aptos"/>
              </a:rPr>
              <a:t>THE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93522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Active collector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670048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Portfolio · comps · wants · trade matching · set completion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41648"/>
            <a:ext cx="5074920" cy="1261872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2062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1215"/>
                </a:solidFill>
                <a:latin typeface="Aptos"/>
              </a:rPr>
              <a:t>THE BREAKOUT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489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Pack/box hitter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7" y="4224528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Instant identification · valuation · grade economics · sell/trade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041648"/>
            <a:ext cx="5074920" cy="1261872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420624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21215"/>
                </a:solidFill>
                <a:latin typeface="Aptos"/>
              </a:rPr>
              <a:t>THE NEXT 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489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Kids + families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4224528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Favorite players · simple collecting goals · parent-controlled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DATA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The collection graph compounds.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The more cards users scan, own, want and transact, the better The Grail becomes at pricing, matching and discovery.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517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8712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OWN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46120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What exists in collections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517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8712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WANT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46120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What collectors are chasing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6517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8712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VALUE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246120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What cards actually transact for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4" y="26517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28712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TRADE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246120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What combinations clear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265176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28712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21215"/>
                </a:solidFill>
                <a:latin typeface="Aptos"/>
              </a:rPr>
              <a:t>TRUST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3246120"/>
            <a:ext cx="1554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C6E78"/>
                </a:solidFill>
                <a:latin typeface="Aptos"/>
              </a:rPr>
              <a:t>Who and what can be trusted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7316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5"/>
                </a:solidFill>
                <a:latin typeface="Aptos"/>
              </a:rPr>
              <a:t>SCAN  →  COLLECTION  →  MARKET DATA  →  WANT LIST  →  MATCH  →  TRANSACTION  →  BETTER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422392"/>
            <a:ext cx="2167128" cy="6400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43784" y="5422392"/>
            <a:ext cx="2167128" cy="6400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1768" y="5422392"/>
            <a:ext cx="2167128" cy="6400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59752" y="5422392"/>
            <a:ext cx="216712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7736" y="5422392"/>
            <a:ext cx="2167128" cy="6400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6928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6E78"/>
                </a:solidFill>
                <a:latin typeface="Aptos"/>
              </a:rPr>
              <a:t>Each completed loop increases utility and lowers friction for the next collector.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BUSINESS MODEL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Free to enter. Paid for intelligence and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A blended model aligns revenue with both power users and marketplace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78608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788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5"/>
                </a:solidFill>
                <a:latin typeface="Aptos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246120"/>
            <a:ext cx="2743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6E78"/>
                </a:solidFill>
                <a:latin typeface="Aptos"/>
              </a:rPr>
              <a:t>Collection · scan · basic comps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9651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~5% transaction fee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578608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788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5"/>
                </a:solidFill>
                <a:latin typeface="Aptos"/>
              </a:rPr>
              <a:t>GRAIL+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46120"/>
            <a:ext cx="2743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6E78"/>
                </a:solidFill>
                <a:latin typeface="Aptos"/>
              </a:rPr>
              <a:t>Advanced comps · alerts · Trade Finder · portfolio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09651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~$9.99/mo · lower fee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578608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788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215"/>
                </a:solidFill>
                <a:latin typeface="Aptos"/>
              </a:rPr>
              <a:t>GRAIL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246120"/>
            <a:ext cx="2743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C6E78"/>
                </a:solidFill>
                <a:latin typeface="Aptos"/>
              </a:rPr>
              <a:t>Dealer tools · bulk workflows · exports/API · storefront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09651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ptos"/>
              </a:rPr>
              <a:t>~$24.99/mo · lowest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C6E78"/>
                </a:solidFill>
                <a:latin typeface="Aptos"/>
              </a:rPr>
              <a:t>ADDITIONAL REVENUE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675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1215"/>
                </a:solidFill>
                <a:latin typeface="Aptos"/>
              </a:rPr>
              <a:t>Trade protection  ·  Authentication  ·  Shipping  ·  Grading referrals  ·  Vault/storage  ·  Data/API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WEDGE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Start where passion and liquidity overlap.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Modern soccer + 1990s basketball create a strong initial community with both emerging stars and enduring icons.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60320"/>
            <a:ext cx="1627632" cy="256032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G_74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93860"/>
            <a:ext cx="1499616" cy="209323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688336" y="2560320"/>
            <a:ext cx="1627632" cy="256032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_741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4" y="3281532"/>
            <a:ext cx="1499616" cy="111789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718304" y="2560320"/>
            <a:ext cx="1627632" cy="256032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G_741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749253"/>
            <a:ext cx="1499616" cy="218245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748272" y="2560320"/>
            <a:ext cx="1627632" cy="256032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G_741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826409"/>
            <a:ext cx="1499616" cy="20281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778240" y="2560320"/>
            <a:ext cx="1627632" cy="2560320"/>
          </a:xfrm>
          <a:prstGeom prst="roundRect">
            <a:avLst/>
          </a:prstGeom>
          <a:solidFill>
            <a:srgbClr val="F6F6F8"/>
          </a:solidFill>
          <a:ln w="12700">
            <a:solidFill>
              <a:srgbClr val="E5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eenshot 2026-09-01 at 1.05.19 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2758148"/>
            <a:ext cx="1499616" cy="21646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" y="5504688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MODERN SOCCER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15584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GLOBAL · YOUNGER · FAST-GROWING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504688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2A546"/>
                </a:solidFill>
                <a:latin typeface="Aptos"/>
              </a:rPr>
              <a:t>90s BASKETBALL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81558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6C6E78"/>
                </a:solidFill>
                <a:latin typeface="Aptos"/>
              </a:rPr>
              <a:t>ICONIC · LIQUID · NOSTALGIA-DRIVEN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9969"/>
            <a:ext cx="1234440" cy="5493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47483" cy="4114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47483" cy="4114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47483" cy="4114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47483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47483" cy="4114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1">
                <a:solidFill>
                  <a:srgbClr val="6C6E78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8368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ptos"/>
              </a:rPr>
              <a:t>THE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4183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1215"/>
                </a:solidFill>
                <a:latin typeface="Aptos"/>
              </a:rPr>
              <a:t>The Hobby lives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6E78"/>
                </a:solidFill>
                <a:latin typeface="Aptos"/>
              </a:rPr>
              <a:t>A central hub where collectors know what they own, understand what it is worth, discover what matters next — and eventually transact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1215"/>
                </a:solidFill>
                <a:latin typeface="Aptos"/>
              </a:rPr>
              <a:t>LOVE THE HOBBY.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4023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C6E78"/>
                </a:solidFill>
                <a:latin typeface="Aptos"/>
              </a:rPr>
              <a:t>Know what you own.
Find what you love.
Trade what you don’t.
Build your collection.</a:t>
            </a:r>
          </a:p>
        </p:txBody>
      </p:sp>
      <p:pic>
        <p:nvPicPr>
          <p:cNvPr id="14" name="Picture 13" descr="Screenshot 2026-09-01 at 1.0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729712"/>
            <a:ext cx="2834640" cy="12614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4663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1215"/>
                </a:solidFill>
                <a:latin typeface="Aptos"/>
              </a:rPr>
              <a:t>FIND YOURS.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5193792"/>
            <a:ext cx="557784" cy="64008"/>
          </a:xfrm>
          <a:prstGeom prst="rect">
            <a:avLst/>
          </a:prstGeom>
          <a:solidFill>
            <a:srgbClr val="D2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5193792"/>
            <a:ext cx="557784" cy="64008"/>
          </a:xfrm>
          <a:prstGeom prst="rect">
            <a:avLst/>
          </a:prstGeom>
          <a:solidFill>
            <a:srgbClr val="6F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5193792"/>
            <a:ext cx="557784" cy="64008"/>
          </a:xfrm>
          <a:prstGeom prst="rect">
            <a:avLst/>
          </a:prstGeom>
          <a:solidFill>
            <a:srgbClr val="41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5193792"/>
            <a:ext cx="557784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5193792"/>
            <a:ext cx="557784" cy="64008"/>
          </a:xfrm>
          <a:prstGeom prst="rect">
            <a:avLst/>
          </a:prstGeom>
          <a:solidFill>
            <a:srgbClr val="E6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